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sldIdLst>
    <p:sldId id="256" r:id="rId3"/>
    <p:sldId id="259" r:id="rId4"/>
    <p:sldId id="271" r:id="rId5"/>
    <p:sldId id="273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CE574B-D1B3-407C-B447-6381E6F364F0}" v="407" dt="2026-07-13T12:27:26.962"/>
    <p1510:client id="{746F00D0-5FF4-4E3B-8013-1CA4E7ED39E4}" v="71" dt="2026-07-13T11:49:04.1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91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B84-56F9-4FC9-99FF-0E36D7088F30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AAFF-047D-424A-9A4C-E4A971957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70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B84-56F9-4FC9-99FF-0E36D7088F30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AAFF-047D-424A-9A4C-E4A971957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50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77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82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05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19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41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0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07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593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132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956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369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03475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725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DB84-56F9-4FC9-99FF-0E36D7088F30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AAFF-047D-424A-9A4C-E4A971957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961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605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87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63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  <a:latin typeface="Roboto Slab"/>
                <a:ea typeface="Roboto Slab"/>
                <a:cs typeface="Roboto Slab"/>
              </a:rPr>
              <a:t>AI-Powered Collections Strategy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5196" y="4689395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>
                <a:solidFill>
                  <a:srgbClr val="000000"/>
                </a:solidFill>
                <a:latin typeface="Roboto Slab"/>
                <a:ea typeface="Roboto Slab"/>
                <a:cs typeface="Roboto Slab"/>
              </a:rPr>
              <a:t>Agentic</a:t>
            </a:r>
            <a:r>
              <a:rPr lang="en-US" sz="2000">
                <a:latin typeface="Roboto Slab"/>
                <a:ea typeface="Roboto Slab"/>
                <a:cs typeface="Roboto Slab"/>
              </a:rPr>
              <a:t> AI for Scalable, Fair, and Effective Debt Management at </a:t>
            </a:r>
            <a:r>
              <a:rPr lang="en-US" sz="2000" err="1">
                <a:latin typeface="Roboto Slab"/>
                <a:ea typeface="Roboto Slab"/>
                <a:cs typeface="Roboto Slab"/>
              </a:rPr>
              <a:t>Geldium</a:t>
            </a:r>
            <a:endParaRPr lang="en-US" sz="2000"/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0C110-2682-2BBF-46D0-F246BAA53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50570"/>
            <a:ext cx="3201366" cy="6319382"/>
          </a:xfrm>
        </p:spPr>
        <p:txBody>
          <a:bodyPr anchor="b">
            <a:normAutofit/>
          </a:bodyPr>
          <a:lstStyle/>
          <a:p>
            <a:pPr algn="r"/>
            <a:r>
              <a:rPr lang="en-US" sz="3600" dirty="0">
                <a:solidFill>
                  <a:srgbClr val="FFFFFF"/>
                </a:solidFill>
                <a:latin typeface="Roboto Slab"/>
                <a:ea typeface="Roboto Slab"/>
                <a:cs typeface="Roboto Slab"/>
              </a:rPr>
              <a:t>How the System Works</a:t>
            </a:r>
          </a:p>
          <a:p>
            <a:pPr algn="r"/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1C969-7C4A-CD38-61A4-24B60555F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401" y="799804"/>
            <a:ext cx="7292534" cy="4621281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US" sz="2400" b="1" dirty="0">
              <a:latin typeface="Segoe UI"/>
              <a:ea typeface="Roboto Slab"/>
              <a:cs typeface="Segoe UI"/>
            </a:endParaRPr>
          </a:p>
          <a:p>
            <a:r>
              <a:rPr lang="en-US" sz="1700" b="1" dirty="0">
                <a:latin typeface="Segoe UI"/>
                <a:ea typeface="Roboto Slab"/>
                <a:cs typeface="Segoe UI"/>
              </a:rPr>
              <a:t>Inputs:</a:t>
            </a:r>
            <a:r>
              <a:rPr lang="en-US" sz="1700" dirty="0">
                <a:latin typeface="Segoe UI"/>
                <a:ea typeface="Roboto Slab"/>
                <a:cs typeface="Segoe UI"/>
              </a:rPr>
              <a:t> </a:t>
            </a:r>
          </a:p>
          <a:p>
            <a:pPr marL="914400" lvl="2" indent="0">
              <a:buNone/>
            </a:pPr>
            <a:r>
              <a:rPr lang="en-US" sz="1700" dirty="0">
                <a:latin typeface="Segoe UI"/>
                <a:ea typeface="Roboto Slab"/>
                <a:cs typeface="Segoe UI"/>
              </a:rPr>
              <a:t>Customer financial &amp; behavioral data (e.g., credit utilization, missed payments, debt-to-income ratio).</a:t>
            </a:r>
          </a:p>
          <a:p>
            <a:r>
              <a:rPr lang="en-US" sz="1700" b="1" dirty="0">
                <a:latin typeface="Segoe UI"/>
                <a:ea typeface="Roboto Slab"/>
                <a:cs typeface="Segoe UI"/>
              </a:rPr>
              <a:t>Decision Logic:</a:t>
            </a:r>
          </a:p>
          <a:p>
            <a:pPr marL="0" indent="0">
              <a:buNone/>
            </a:pPr>
            <a:endParaRPr lang="en-US" sz="1700" b="1" dirty="0">
              <a:latin typeface="Segoe UI"/>
              <a:ea typeface="Roboto Slab"/>
              <a:cs typeface="Segoe UI"/>
            </a:endParaRPr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700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Combines predictive scores and business rules to determine optimal actions</a:t>
            </a:r>
            <a:r>
              <a:rPr lang="en-US" sz="17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700" dirty="0"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lang="en-US" sz="1700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ecision engine applies the rules to create targeted interventions.</a:t>
            </a:r>
            <a:endParaRPr lang="en-US" sz="1700" dirty="0">
              <a:latin typeface="Segoe UI" panose="020B0502040204020203" pitchFamily="34" charset="0"/>
              <a:ea typeface="Roboto Slab"/>
              <a:cs typeface="Segoe UI" panose="020B0502040204020203" pitchFamily="34" charset="0"/>
            </a:endParaRPr>
          </a:p>
          <a:p>
            <a:r>
              <a:rPr lang="en-US" sz="1700" b="1" dirty="0">
                <a:latin typeface="Segoe UI"/>
                <a:ea typeface="Roboto Slab"/>
                <a:cs typeface="Segoe UI"/>
              </a:rPr>
              <a:t>Actions:</a:t>
            </a:r>
            <a:r>
              <a:rPr lang="en-US" sz="1700" dirty="0">
                <a:latin typeface="Segoe UI"/>
                <a:ea typeface="Roboto Slab"/>
                <a:cs typeface="Segoe UI"/>
              </a:rPr>
              <a:t> </a:t>
            </a:r>
          </a:p>
          <a:p>
            <a:pPr marL="0" indent="0">
              <a:buNone/>
            </a:pPr>
            <a:endParaRPr lang="en-US" sz="1700" dirty="0">
              <a:latin typeface="Segoe UI"/>
              <a:ea typeface="Roboto Slab"/>
              <a:cs typeface="Segoe UI"/>
            </a:endParaRPr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700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Automated outreach: payment reminders, hardship offers, repayment plans</a:t>
            </a:r>
            <a:r>
              <a:rPr lang="en-US" sz="17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700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Tailored customer engagement through SMS, email, or phone calls</a:t>
            </a:r>
          </a:p>
          <a:p>
            <a:pPr marL="590550" lvl="1" indent="0">
              <a:spcBef>
                <a:spcPts val="0"/>
              </a:spcBef>
              <a:buClr>
                <a:schemeClr val="dk1"/>
              </a:buClr>
              <a:buSzPts val="1500"/>
              <a:buNone/>
            </a:pPr>
            <a:endParaRPr lang="en-US" sz="1700" dirty="0">
              <a:latin typeface="Segoe UI" panose="020B0502040204020203" pitchFamily="34" charset="0"/>
              <a:ea typeface="Roboto Slab"/>
              <a:cs typeface="Segoe UI" panose="020B0502040204020203" pitchFamily="34" charset="0"/>
            </a:endParaRPr>
          </a:p>
          <a:p>
            <a:r>
              <a:rPr lang="en-US" sz="1700" b="1" dirty="0">
                <a:latin typeface="Segoe UI"/>
                <a:ea typeface="Roboto Slab"/>
                <a:cs typeface="Segoe UI"/>
              </a:rPr>
              <a:t>Learning Loop:</a:t>
            </a:r>
            <a:r>
              <a:rPr lang="en-US" sz="1700" dirty="0">
                <a:latin typeface="Segoe UI"/>
                <a:ea typeface="Roboto Slab"/>
                <a:cs typeface="Segoe UI"/>
              </a:rPr>
              <a:t> Track outcomes, update training data, and recalibrate model for fairness &amp; accuracy</a:t>
            </a:r>
          </a:p>
          <a:p>
            <a:pPr marL="0" indent="0">
              <a:buNone/>
            </a:pPr>
            <a:endParaRPr lang="en-US" sz="1800" b="1" dirty="0">
              <a:latin typeface="Roboto Slab"/>
              <a:ea typeface="Roboto Slab"/>
              <a:cs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89402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2F041-FA7F-DBC1-679D-1386DAAAB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AF81BF8-2FE1-A44F-A6E9-760753C6E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A9EB78-8B88-1534-7A0D-EB10EA0E8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9A1E88-B0D3-FF3E-4F7F-025B1FE45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B99B3D-C861-2145-2C64-74AA10090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747A84-E748-E9BE-36DD-05241D896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33F0164-7841-A830-2B21-747AE882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BDFF0A-CF5F-4959-590B-3EE8D2BE8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D32D9-776B-5507-F0D6-741906D9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50570"/>
            <a:ext cx="3201366" cy="6319382"/>
          </a:xfrm>
        </p:spPr>
        <p:txBody>
          <a:bodyPr anchor="b">
            <a:normAutofit/>
          </a:bodyPr>
          <a:lstStyle/>
          <a:p>
            <a:pPr algn="r"/>
            <a:r>
              <a:rPr lang="en-US" sz="3600" dirty="0">
                <a:solidFill>
                  <a:srgbClr val="FFFFFF"/>
                </a:solidFill>
                <a:latin typeface="Roboto Slab"/>
                <a:ea typeface="Roboto Slab"/>
                <a:cs typeface="Roboto Slab"/>
              </a:rPr>
              <a:t> System</a:t>
            </a:r>
            <a:br>
              <a:rPr lang="en-US" sz="3600" dirty="0">
                <a:solidFill>
                  <a:srgbClr val="FFFFFF"/>
                </a:solidFill>
                <a:latin typeface="Roboto Slab"/>
                <a:ea typeface="Roboto Slab"/>
                <a:cs typeface="Roboto Slab"/>
              </a:rPr>
            </a:br>
            <a:r>
              <a:rPr lang="en-US" sz="3600" dirty="0">
                <a:solidFill>
                  <a:srgbClr val="FFFFFF"/>
                </a:solidFill>
                <a:latin typeface="Roboto Slab"/>
                <a:ea typeface="Roboto Slab"/>
                <a:cs typeface="Roboto Slab"/>
              </a:rPr>
              <a:t>Component and Workflow</a:t>
            </a:r>
          </a:p>
          <a:p>
            <a:pPr algn="r"/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36479-F82F-80DE-F22F-69D8F4BB6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9173" y="351936"/>
            <a:ext cx="7230261" cy="3855134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400" b="1" dirty="0">
                <a:latin typeface="Segoe UI"/>
                <a:ea typeface="Roboto Slab"/>
                <a:cs typeface="Segoe UI"/>
              </a:rPr>
              <a:t>Streamlined Workflow for Smarter Collections</a:t>
            </a:r>
          </a:p>
          <a:p>
            <a:pPr marL="0" indent="0">
              <a:buNone/>
            </a:pPr>
            <a:endParaRPr lang="en-US" sz="2400" b="1" dirty="0">
              <a:latin typeface="Segoe UI"/>
              <a:ea typeface="Roboto Slab"/>
              <a:cs typeface="Segoe UI"/>
            </a:endParaRPr>
          </a:p>
          <a:p>
            <a:pPr marL="457200" lvl="0" indent="-323850">
              <a:spcBef>
                <a:spcPts val="0"/>
              </a:spcBef>
              <a:buClr>
                <a:schemeClr val="dk1"/>
              </a:buClr>
              <a:buSzPts val="1500"/>
              <a:buChar char="●"/>
            </a:pPr>
            <a:r>
              <a:rPr lang="en-US" sz="1600" b="1" dirty="0">
                <a:solidFill>
                  <a:schemeClr val="dk1"/>
                </a:solidFill>
              </a:rPr>
              <a:t>Data Pipeline</a:t>
            </a:r>
            <a:endParaRPr lang="en-US" sz="1600" dirty="0"/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600" dirty="0">
                <a:solidFill>
                  <a:schemeClr val="dk1"/>
                </a:solidFill>
              </a:rPr>
              <a:t>Gathers essential customer information, including financial behavior (e.g., income, missed payments, credit utilization)</a:t>
            </a:r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endParaRPr lang="en-US" sz="1600" dirty="0">
              <a:solidFill>
                <a:schemeClr val="dk1"/>
              </a:solidFill>
            </a:endParaRPr>
          </a:p>
          <a:p>
            <a:pPr marL="457200" lvl="0" indent="-323850">
              <a:spcBef>
                <a:spcPts val="0"/>
              </a:spcBef>
              <a:buClr>
                <a:schemeClr val="dk1"/>
              </a:buClr>
              <a:buSzPts val="1500"/>
              <a:buChar char="●"/>
            </a:pPr>
            <a:r>
              <a:rPr lang="en-US" sz="1600" b="1" dirty="0">
                <a:solidFill>
                  <a:schemeClr val="dk1"/>
                </a:solidFill>
              </a:rPr>
              <a:t>Decision Engine</a:t>
            </a:r>
            <a:endParaRPr lang="en-US" sz="1600" dirty="0"/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600" dirty="0">
                <a:solidFill>
                  <a:schemeClr val="dk1"/>
                </a:solidFill>
              </a:rPr>
              <a:t>Applies machine learning models and business rules to determine actions</a:t>
            </a:r>
            <a:endParaRPr lang="en-US" sz="1600" dirty="0"/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600" dirty="0">
                <a:solidFill>
                  <a:schemeClr val="dk1"/>
                </a:solidFill>
              </a:rPr>
              <a:t>Factors in customer’s risk level, payment history, and predicted behavior</a:t>
            </a:r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endParaRPr lang="en-US" sz="1600" dirty="0"/>
          </a:p>
          <a:p>
            <a:pPr marL="457200" lvl="0" indent="-323850">
              <a:spcBef>
                <a:spcPts val="0"/>
              </a:spcBef>
              <a:buClr>
                <a:schemeClr val="dk1"/>
              </a:buClr>
              <a:buSzPts val="1500"/>
              <a:buChar char="●"/>
            </a:pPr>
            <a:r>
              <a:rPr lang="en-US" sz="1600" b="1" dirty="0">
                <a:solidFill>
                  <a:schemeClr val="dk1"/>
                </a:solidFill>
              </a:rPr>
              <a:t>Action Layer</a:t>
            </a:r>
            <a:endParaRPr lang="en-US" sz="1600" dirty="0"/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600" dirty="0">
                <a:solidFill>
                  <a:schemeClr val="dk1"/>
                </a:solidFill>
              </a:rPr>
              <a:t>Executes interventions: automated SMS/email reminders, customized repayment offers, hardship assistance</a:t>
            </a:r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endParaRPr lang="en-US" sz="1600" dirty="0"/>
          </a:p>
          <a:p>
            <a:pPr marL="457200" lvl="0" indent="-323850">
              <a:spcBef>
                <a:spcPts val="0"/>
              </a:spcBef>
              <a:buClr>
                <a:schemeClr val="dk1"/>
              </a:buClr>
              <a:buSzPts val="1500"/>
              <a:buChar char="●"/>
            </a:pPr>
            <a:r>
              <a:rPr lang="en-US" sz="1600" b="1" dirty="0">
                <a:solidFill>
                  <a:schemeClr val="dk1"/>
                </a:solidFill>
              </a:rPr>
              <a:t>Learning Loop</a:t>
            </a:r>
            <a:endParaRPr lang="en-US" sz="1600" dirty="0"/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600" dirty="0"/>
              <a:t>S</a:t>
            </a:r>
            <a:r>
              <a:rPr lang="en-US" sz="1600" dirty="0">
                <a:solidFill>
                  <a:schemeClr val="dk1"/>
                </a:solidFill>
              </a:rPr>
              <a:t>ystem adapts based on the results of previous actions</a:t>
            </a:r>
            <a:endParaRPr lang="en-US" sz="1600" dirty="0"/>
          </a:p>
          <a:p>
            <a:pPr marL="914400" lvl="1" indent="-323850">
              <a:spcBef>
                <a:spcPts val="0"/>
              </a:spcBef>
              <a:buClr>
                <a:schemeClr val="dk1"/>
              </a:buClr>
              <a:buSzPts val="1500"/>
              <a:buChar char="○"/>
            </a:pPr>
            <a:r>
              <a:rPr lang="en-US" sz="1600" dirty="0"/>
              <a:t>F</a:t>
            </a:r>
            <a:r>
              <a:rPr lang="en-US" sz="1600" dirty="0">
                <a:solidFill>
                  <a:schemeClr val="dk1"/>
                </a:solidFill>
              </a:rPr>
              <a:t>uture decision-making </a:t>
            </a:r>
            <a:r>
              <a:rPr lang="en-US" sz="1600" dirty="0"/>
              <a:t>improves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600" dirty="0"/>
              <a:t>based on</a:t>
            </a:r>
            <a:r>
              <a:rPr lang="en-US" sz="1600" dirty="0">
                <a:solidFill>
                  <a:schemeClr val="dk1"/>
                </a:solidFill>
              </a:rPr>
              <a:t> repayment outcomes</a:t>
            </a:r>
          </a:p>
          <a:p>
            <a:pPr marL="0" indent="0">
              <a:buNone/>
            </a:pPr>
            <a:endParaRPr lang="en-US" sz="2400" b="1" dirty="0">
              <a:latin typeface="Segoe UI"/>
              <a:ea typeface="Roboto Slab"/>
              <a:cs typeface="Segoe UI"/>
            </a:endParaRPr>
          </a:p>
          <a:p>
            <a:pPr marL="0" indent="0">
              <a:buNone/>
            </a:pPr>
            <a:endParaRPr lang="en-US" sz="1800" b="1" dirty="0">
              <a:latin typeface="Roboto Slab"/>
              <a:ea typeface="Roboto Slab"/>
              <a:cs typeface="Roboto Slab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72D7E-21C9-BCF7-B802-22E353095B9D}"/>
              </a:ext>
            </a:extLst>
          </p:cNvPr>
          <p:cNvSpPr/>
          <p:nvPr/>
        </p:nvSpPr>
        <p:spPr>
          <a:xfrm>
            <a:off x="4207813" y="4809745"/>
            <a:ext cx="1478882" cy="654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E5F627-B9F6-2901-5290-45565586DFF4}"/>
              </a:ext>
            </a:extLst>
          </p:cNvPr>
          <p:cNvSpPr/>
          <p:nvPr/>
        </p:nvSpPr>
        <p:spPr>
          <a:xfrm>
            <a:off x="6092801" y="4779234"/>
            <a:ext cx="1478882" cy="654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Design </a:t>
            </a:r>
            <a:r>
              <a:rPr lang="en-US"/>
              <a:t>Logic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54E62-2B62-EAB4-4248-D9D9A5060D32}"/>
              </a:ext>
            </a:extLst>
          </p:cNvPr>
          <p:cNvSpPr/>
          <p:nvPr/>
        </p:nvSpPr>
        <p:spPr>
          <a:xfrm>
            <a:off x="8008687" y="4779234"/>
            <a:ext cx="1580482" cy="654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0B1B4-1E51-860B-587F-2B42305E93D5}"/>
              </a:ext>
            </a:extLst>
          </p:cNvPr>
          <p:cNvSpPr/>
          <p:nvPr/>
        </p:nvSpPr>
        <p:spPr>
          <a:xfrm>
            <a:off x="10055202" y="4779234"/>
            <a:ext cx="1478882" cy="654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Learning Loop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348512E-DF30-5F9A-A185-7345FB39F27F}"/>
              </a:ext>
            </a:extLst>
          </p:cNvPr>
          <p:cNvSpPr/>
          <p:nvPr/>
        </p:nvSpPr>
        <p:spPr>
          <a:xfrm>
            <a:off x="5760334" y="5113039"/>
            <a:ext cx="214218" cy="151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FB82E1C-FEC9-76AF-F8DA-57BF6F3D46A4}"/>
              </a:ext>
            </a:extLst>
          </p:cNvPr>
          <p:cNvSpPr/>
          <p:nvPr/>
        </p:nvSpPr>
        <p:spPr>
          <a:xfrm>
            <a:off x="7683476" y="5040467"/>
            <a:ext cx="214218" cy="151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87C7DD2-0F02-423B-E57C-9A1A15727655}"/>
              </a:ext>
            </a:extLst>
          </p:cNvPr>
          <p:cNvSpPr/>
          <p:nvPr/>
        </p:nvSpPr>
        <p:spPr>
          <a:xfrm>
            <a:off x="9693705" y="5033210"/>
            <a:ext cx="214218" cy="151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5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257A62-8CAA-51CD-077F-32BE34B65D1C}"/>
              </a:ext>
            </a:extLst>
          </p:cNvPr>
          <p:cNvSpPr txBox="1"/>
          <p:nvPr/>
        </p:nvSpPr>
        <p:spPr>
          <a:xfrm>
            <a:off x="1481331" y="3665764"/>
            <a:ext cx="4921431" cy="2689967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fontAlgn="t"/>
            <a:endParaRPr lang="en-US" dirty="0"/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A49-7F8A-8743-3652-94AF2A20A28A}"/>
              </a:ext>
            </a:extLst>
          </p:cNvPr>
          <p:cNvSpPr txBox="1"/>
          <p:nvPr/>
        </p:nvSpPr>
        <p:spPr>
          <a:xfrm>
            <a:off x="459346" y="207597"/>
            <a:ext cx="883385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</a:rPr>
              <a:t>Role of Agentic AI</a:t>
            </a:r>
            <a:r>
              <a:rPr lang="en-US" sz="3600" dirty="0">
                <a:solidFill>
                  <a:schemeClr val="bg1"/>
                </a:solidFill>
                <a:latin typeface="Roboto Slab"/>
                <a:ea typeface="Roboto Slab"/>
                <a:cs typeface="Roboto Slab"/>
              </a:rPr>
              <a:t> 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Roboto Slab"/>
                <a:ea typeface="Roboto Slab"/>
                <a:cs typeface="Roboto Slab"/>
              </a:rPr>
              <a:t>Agentic AI autonomously handles routine collections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Roboto"/>
                <a:ea typeface="Roboto"/>
                <a:cs typeface="Roboto"/>
              </a:rPr>
              <a:t>tasks, while human oversight ensures critical decisions are fair and nuanced </a:t>
            </a:r>
          </a:p>
          <a:p>
            <a:pPr algn="l"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7518986-1FCF-EA79-CDE0-675C70327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057981"/>
              </p:ext>
            </p:extLst>
          </p:nvPr>
        </p:nvGraphicFramePr>
        <p:xfrm>
          <a:off x="627788" y="2002280"/>
          <a:ext cx="10732168" cy="3016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613">
                  <a:extLst>
                    <a:ext uri="{9D8B030D-6E8A-4147-A177-3AD203B41FA5}">
                      <a16:colId xmlns:a16="http://schemas.microsoft.com/office/drawing/2014/main" val="2068156311"/>
                    </a:ext>
                  </a:extLst>
                </a:gridCol>
                <a:gridCol w="5372555">
                  <a:extLst>
                    <a:ext uri="{9D8B030D-6E8A-4147-A177-3AD203B41FA5}">
                      <a16:colId xmlns:a16="http://schemas.microsoft.com/office/drawing/2014/main" val="1568561823"/>
                    </a:ext>
                  </a:extLst>
                </a:gridCol>
              </a:tblGrid>
              <a:tr h="534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Autonomous</a:t>
                      </a:r>
                    </a:p>
                    <a:p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accent1">
                        <a:alpha val="4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Human Oversight</a:t>
                      </a:r>
                    </a:p>
                    <a:p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accent1">
                        <a:alpha val="4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585380"/>
                  </a:ext>
                </a:extLst>
              </a:tr>
              <a:tr h="5345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Sending automated reminders (SMS/email)</a:t>
                      </a:r>
                    </a:p>
                    <a:p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Offering tailored debt restructuring plans</a:t>
                      </a:r>
                    </a:p>
                    <a:p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770238"/>
                  </a:ext>
                </a:extLst>
              </a:tr>
              <a:tr h="5345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Providing general repayment offers</a:t>
                      </a:r>
                    </a:p>
                    <a:p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Reviewing escalations or legal actions</a:t>
                      </a:r>
                    </a:p>
                    <a:p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958989"/>
                  </a:ext>
                </a:extLst>
              </a:tr>
              <a:tr h="5345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Follow-up for low-risk customers</a:t>
                      </a:r>
                    </a:p>
                    <a:p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Verifying high-risk cases (e.g., legal action)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682108"/>
                  </a:ext>
                </a:extLst>
              </a:tr>
              <a:tr h="7004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Adaptive behavior based on customer actions</a:t>
                      </a:r>
                    </a:p>
                    <a:p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Manual review of sensitive or complex scenarios</a:t>
                      </a:r>
                    </a:p>
                    <a:p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5971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62829A5-B94C-4705-B48A-CF266CD9211F}"/>
              </a:ext>
            </a:extLst>
          </p:cNvPr>
          <p:cNvSpPr txBox="1"/>
          <p:nvPr/>
        </p:nvSpPr>
        <p:spPr>
          <a:xfrm>
            <a:off x="627788" y="5327874"/>
            <a:ext cx="10732168" cy="719171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47000">
                <a:srgbClr val="1F4D62"/>
              </a:gs>
              <a:gs pos="94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"/>
                <a:cs typeface="Segoe UI"/>
              </a:rPr>
              <a:t>AI Lane:</a:t>
            </a:r>
            <a:r>
              <a:rPr lang="en-US" dirty="0">
                <a:solidFill>
                  <a:schemeClr val="bg1"/>
                </a:solidFill>
                <a:latin typeface="Segoe UI"/>
                <a:cs typeface="Segoe UI"/>
              </a:rPr>
              <a:t> Inputs → Risk Prediction → Routine Actions → Feedback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"/>
                <a:cs typeface="Segoe UI"/>
              </a:rPr>
              <a:t>Human Lane:</a:t>
            </a:r>
            <a:r>
              <a:rPr lang="en-US" dirty="0">
                <a:solidFill>
                  <a:schemeClr val="bg1"/>
                </a:solidFill>
                <a:latin typeface="Segoe UI"/>
                <a:cs typeface="Segoe UI"/>
              </a:rPr>
              <a:t> Review → Approve Escalations → Provide Feedback</a:t>
            </a:r>
          </a:p>
        </p:txBody>
      </p:sp>
    </p:spTree>
    <p:extLst>
      <p:ext uri="{BB962C8B-B14F-4D97-AF65-F5344CB8AC3E}">
        <p14:creationId xmlns:p14="http://schemas.microsoft.com/office/powerpoint/2010/main" val="285873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CAF1B-C6BB-16CD-D69E-0BFEA94F5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013" y="764685"/>
            <a:ext cx="8755742" cy="91198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Roboto Slab"/>
                <a:ea typeface="Roboto Slab"/>
                <a:cs typeface="Roboto Slab"/>
              </a:rPr>
              <a:t>Monitoring &amp; Auditing AI Collections</a:t>
            </a:r>
          </a:p>
          <a:p>
            <a:r>
              <a:rPr lang="en-US" dirty="0">
                <a:latin typeface="Roboto Slab"/>
                <a:ea typeface="Roboto Slab"/>
                <a:cs typeface="Roboto Slab"/>
              </a:rPr>
              <a:t>Ensuring Fairness, Compliance, and Effectiveness Over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56C6E-381E-D28C-756B-A60EB467B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Segoe UI"/>
                <a:ea typeface="+mn-lt"/>
                <a:cs typeface="Segoe UI"/>
              </a:rPr>
              <a:t>Fairness</a:t>
            </a:r>
            <a:endParaRPr lang="en-US" b="1" dirty="0">
              <a:latin typeface="Segoe UI"/>
              <a:cs typeface="Segoe U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5D6A2-E8BF-ECA7-5A81-4DFAC2B3A14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925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latin typeface="Segoe UI"/>
                <a:ea typeface="+mn-lt"/>
                <a:cs typeface="Segoe UI"/>
              </a:rPr>
              <a:t>Run </a:t>
            </a:r>
            <a:r>
              <a:rPr lang="en-US" sz="1800" b="1" dirty="0">
                <a:latin typeface="Segoe UI"/>
                <a:ea typeface="+mn-lt"/>
                <a:cs typeface="Segoe UI"/>
              </a:rPr>
              <a:t>bias audits</a:t>
            </a:r>
            <a:r>
              <a:rPr lang="en-US" sz="1800" dirty="0">
                <a:latin typeface="Segoe UI"/>
                <a:ea typeface="+mn-lt"/>
                <a:cs typeface="Segoe UI"/>
              </a:rPr>
              <a:t> (precision/recall, disparate impact) quarterly.</a:t>
            </a:r>
            <a:endParaRPr lang="en-US" sz="1800" dirty="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Segoe UI"/>
                <a:ea typeface="+mn-lt"/>
                <a:cs typeface="Segoe UI"/>
              </a:rPr>
              <a:t>Compare outcomes across segments (income, region, employment).</a:t>
            </a:r>
            <a:endParaRPr lang="en-US" sz="1800" dirty="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Segoe UI"/>
                <a:ea typeface="+mn-lt"/>
                <a:cs typeface="Segoe UI"/>
              </a:rPr>
              <a:t>Require </a:t>
            </a:r>
            <a:r>
              <a:rPr lang="en-US" sz="1800" b="1" dirty="0">
                <a:latin typeface="Segoe UI"/>
                <a:ea typeface="+mn-lt"/>
                <a:cs typeface="Segoe UI"/>
              </a:rPr>
              <a:t>human review</a:t>
            </a:r>
            <a:r>
              <a:rPr lang="en-US" sz="1800" dirty="0">
                <a:latin typeface="Segoe UI"/>
                <a:ea typeface="+mn-lt"/>
                <a:cs typeface="Segoe UI"/>
              </a:rPr>
              <a:t> for borderline or sensitive cases.</a:t>
            </a:r>
            <a:endParaRPr lang="en-US" sz="1800" dirty="0">
              <a:latin typeface="Segoe UI"/>
              <a:cs typeface="Segoe UI"/>
            </a:endParaRPr>
          </a:p>
          <a:p>
            <a:endParaRPr lang="en-US" sz="1800" dirty="0">
              <a:latin typeface="Segoe UI"/>
              <a:cs typeface="Segoe UI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9A33B-6136-8B69-4789-EEEAEBECD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b="1" dirty="0">
                <a:latin typeface="Segoe UI"/>
                <a:cs typeface="Segoe UI"/>
              </a:rPr>
              <a:t>Compliance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185090-6BA7-1917-9BD2-3AE703343942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latin typeface="Segoe UI"/>
                <a:ea typeface="+mn-lt"/>
                <a:cs typeface="Segoe UI"/>
              </a:rPr>
              <a:t>Establish a </a:t>
            </a:r>
            <a:r>
              <a:rPr lang="en-US" sz="1800" b="1" dirty="0">
                <a:latin typeface="Segoe UI"/>
                <a:ea typeface="+mn-lt"/>
                <a:cs typeface="Segoe UI"/>
              </a:rPr>
              <a:t>governance committee</a:t>
            </a:r>
            <a:r>
              <a:rPr lang="en-US" sz="1800" dirty="0">
                <a:latin typeface="Segoe UI"/>
                <a:ea typeface="+mn-lt"/>
                <a:cs typeface="Segoe UI"/>
              </a:rPr>
              <a:t> for regular model reviews.</a:t>
            </a:r>
            <a:endParaRPr lang="en-US" sz="1800" dirty="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Segoe UI"/>
                <a:ea typeface="+mn-lt"/>
                <a:cs typeface="Segoe UI"/>
              </a:rPr>
              <a:t>Maintain </a:t>
            </a:r>
            <a:r>
              <a:rPr lang="en-US" sz="1800" b="1" dirty="0">
                <a:latin typeface="Segoe UI"/>
                <a:ea typeface="+mn-lt"/>
                <a:cs typeface="Segoe UI"/>
              </a:rPr>
              <a:t>documentation</a:t>
            </a:r>
            <a:r>
              <a:rPr lang="en-US" sz="1800" dirty="0">
                <a:latin typeface="Segoe UI"/>
                <a:ea typeface="+mn-lt"/>
                <a:cs typeface="Segoe UI"/>
              </a:rPr>
              <a:t> of model updates and decision rules.</a:t>
            </a:r>
            <a:endParaRPr lang="en-US" sz="1800" dirty="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Segoe UI"/>
                <a:ea typeface="+mn-lt"/>
                <a:cs typeface="Segoe UI"/>
              </a:rPr>
              <a:t>Align outputs with </a:t>
            </a:r>
            <a:r>
              <a:rPr lang="en-US" sz="1800" b="1" dirty="0">
                <a:latin typeface="Segoe UI"/>
                <a:ea typeface="+mn-lt"/>
                <a:cs typeface="Segoe UI"/>
              </a:rPr>
              <a:t>current lending policies &amp; regulations</a:t>
            </a:r>
            <a:r>
              <a:rPr lang="en-US" sz="1800" dirty="0">
                <a:latin typeface="Segoe UI"/>
                <a:ea typeface="+mn-lt"/>
                <a:cs typeface="Segoe UI"/>
              </a:rPr>
              <a:t>.</a:t>
            </a:r>
            <a:endParaRPr lang="en-US" sz="1800" dirty="0">
              <a:latin typeface="Segoe UI"/>
              <a:cs typeface="Segoe UI"/>
            </a:endParaRPr>
          </a:p>
          <a:p>
            <a:endParaRPr lang="en-US" sz="1800" dirty="0">
              <a:latin typeface="Segoe UI"/>
              <a:cs typeface="Segoe UI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22605-1DD9-3EF3-7060-8C6FDAF3BC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>
                <a:latin typeface="Segoe UI"/>
                <a:ea typeface="+mn-lt"/>
                <a:cs typeface="Segoe UI"/>
              </a:rPr>
              <a:t>Effectiveness</a:t>
            </a:r>
            <a:endParaRPr lang="en-US" b="1" dirty="0">
              <a:latin typeface="Segoe UI"/>
              <a:cs typeface="Segoe UI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AB0786-D6A5-5A20-A9B3-53AE15DDCA17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latin typeface="Segoe UI"/>
                <a:ea typeface="+mn-lt"/>
                <a:cs typeface="Segoe UI"/>
              </a:rPr>
              <a:t>T</a:t>
            </a:r>
            <a:r>
              <a:rPr lang="en-US" sz="1800" dirty="0">
                <a:latin typeface="Segoe UI"/>
                <a:ea typeface="Roboto Slab"/>
                <a:cs typeface="Segoe UI"/>
              </a:rPr>
              <a:t>rack KPIs: delinquency reduction, repayment success, customer engagement.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Segoe UI"/>
                <a:ea typeface="Roboto Slab"/>
                <a:cs typeface="Segoe UI"/>
              </a:rPr>
              <a:t>Feed </a:t>
            </a:r>
            <a:r>
              <a:rPr lang="en-US" sz="1800" b="1" dirty="0">
                <a:latin typeface="Segoe UI"/>
                <a:ea typeface="Roboto Slab"/>
                <a:cs typeface="Segoe UI"/>
              </a:rPr>
              <a:t>intervention outcomes</a:t>
            </a:r>
            <a:r>
              <a:rPr lang="en-US" sz="1800" dirty="0">
                <a:latin typeface="Segoe UI"/>
                <a:ea typeface="Roboto Slab"/>
                <a:cs typeface="Segoe UI"/>
              </a:rPr>
              <a:t> back into the model.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Segoe UI"/>
                <a:ea typeface="Roboto Slab"/>
                <a:cs typeface="Segoe UI"/>
              </a:rPr>
              <a:t>Retrain every </a:t>
            </a:r>
            <a:r>
              <a:rPr lang="en-US" sz="1800" b="1" dirty="0">
                <a:latin typeface="Segoe UI"/>
                <a:ea typeface="Roboto Slab"/>
                <a:cs typeface="Segoe UI"/>
              </a:rPr>
              <a:t>6–12 months</a:t>
            </a:r>
            <a:r>
              <a:rPr lang="en-US" sz="1800" dirty="0">
                <a:latin typeface="Segoe UI"/>
                <a:ea typeface="Roboto Slab"/>
                <a:cs typeface="Segoe UI"/>
              </a:rPr>
              <a:t> with updated data.</a:t>
            </a:r>
          </a:p>
          <a:p>
            <a:endParaRPr lang="en-US" sz="1800" dirty="0">
              <a:latin typeface="Segoe UI"/>
              <a:ea typeface="Roboto Slab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3634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E8218-0CEF-CD78-0D80-93C296713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latin typeface="Roboto Slab"/>
                <a:ea typeface="Roboto Slab"/>
                <a:cs typeface="Roboto Slab"/>
              </a:rPr>
              <a:t>Expected Business Impact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11096-15F5-A179-D5AE-00D1CDAFE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9626" y="3995761"/>
            <a:ext cx="7055893" cy="10780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Roboto Slab"/>
                <a:ea typeface="Roboto Slab"/>
                <a:cs typeface="Roboto Slab"/>
              </a:rPr>
              <a:t>Quantitative &amp; Qualitative Outcomes</a:t>
            </a:r>
            <a:endParaRPr lang="en-US" sz="2400" kern="1200">
              <a:solidFill>
                <a:srgbClr val="FFFFFF"/>
              </a:solidFill>
              <a:latin typeface="Roboto Slab"/>
              <a:ea typeface="Roboto Slab"/>
              <a:cs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276133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977154-2C0E-0C54-91D6-6EBC6750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Roboto Slab"/>
                <a:ea typeface="Roboto Slab"/>
                <a:cs typeface="Roboto Slab"/>
              </a:rPr>
              <a:t>Quantitative Outcomes  </a:t>
            </a:r>
          </a:p>
        </p:txBody>
      </p:sp>
      <p:pic>
        <p:nvPicPr>
          <p:cNvPr id="38" name="Graphic 37" descr="Upward trend">
            <a:extLst>
              <a:ext uri="{FF2B5EF4-FFF2-40B4-BE49-F238E27FC236}">
                <a16:creationId xmlns:a16="http://schemas.microsoft.com/office/drawing/2014/main" id="{4AEC158E-61C6-1340-E76F-100429850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1931-3332-38DF-B614-317003C5A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Driving Measurable Gains in Collections Performance</a:t>
            </a:r>
            <a:endParaRPr lang="en-US" sz="1800" dirty="0">
              <a:solidFill>
                <a:schemeClr val="tx2"/>
              </a:solidFill>
              <a:latin typeface="Segoe UI"/>
              <a:cs typeface="Segoe UI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Reduced Delinquency:</a:t>
            </a:r>
            <a:r>
              <a:rPr lang="en-US" sz="1600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15% reduction in 30+ day delinquency for high-risk customers within the first 6 months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n-US" sz="1600" b="1" dirty="0">
                <a:solidFill>
                  <a:schemeClr val="tx2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Increased Repayment Rates:</a:t>
            </a:r>
            <a:r>
              <a:rPr lang="en-US" sz="1600" dirty="0">
                <a:solidFill>
                  <a:schemeClr val="tx2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Personalized reminders and flexible repayment plans improve recovery success.</a:t>
            </a:r>
            <a:endParaRPr lang="en-US" sz="1600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Cost Savings:</a:t>
            </a:r>
            <a:r>
              <a:rPr lang="en-US" sz="1600" dirty="0">
                <a:solidFill>
                  <a:schemeClr val="tx2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Automation 60% of routine outreach reduces manual workload, cutting operational costs.</a:t>
            </a:r>
            <a:endParaRPr lang="en-US" sz="1600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Scalability:</a:t>
            </a:r>
            <a:r>
              <a:rPr lang="en-US" sz="1600" dirty="0">
                <a:solidFill>
                  <a:schemeClr val="tx2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System can handle large customer volumes without proportional increases in staff.</a:t>
            </a:r>
            <a:endParaRPr lang="en-US" sz="1600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Segoe UI"/>
              <a:cs typeface="Segoe UI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0272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8FA64-2992-AFCF-D36F-CCFD3954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Roboto Slab"/>
                <a:ea typeface="Roboto Slab"/>
                <a:cs typeface="Roboto Slab"/>
              </a:rPr>
              <a:t>Qualitative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4EAA7-5D6E-0EE0-4775-11D6194E2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Enhancing Customer Trust and Experience</a:t>
            </a:r>
            <a:endParaRPr lang="en-US" sz="1800" dirty="0">
              <a:solidFill>
                <a:schemeClr val="tx2"/>
              </a:solidFill>
              <a:latin typeface="Segoe UI"/>
              <a:cs typeface="Segoe UI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Improved Trust:</a:t>
            </a:r>
            <a:r>
              <a:rPr lang="en-US" sz="1600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 Transparent, explainable decisions reassure customers why they’re flagged.</a:t>
            </a:r>
            <a:endParaRPr lang="en-US" sz="1600" dirty="0">
              <a:solidFill>
                <a:schemeClr val="tx2"/>
              </a:solidFill>
              <a:latin typeface="Segoe UI"/>
              <a:cs typeface="Segoe UI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Fairness:</a:t>
            </a:r>
            <a:r>
              <a:rPr lang="en-US" sz="1600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 Bias audits and human oversight prevent disproportionate impact on vulnerable groups.</a:t>
            </a:r>
            <a:endParaRPr lang="en-US" sz="1600" dirty="0">
              <a:solidFill>
                <a:schemeClr val="tx2"/>
              </a:solidFill>
              <a:latin typeface="Segoe UI"/>
              <a:cs typeface="Segoe UI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Supportive Experience:</a:t>
            </a:r>
            <a:r>
              <a:rPr lang="en-US" sz="1600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 Proactive alerts and hardship offers help customers manage stress responsibly.</a:t>
            </a:r>
            <a:endParaRPr lang="en-US" sz="1600" dirty="0">
              <a:solidFill>
                <a:schemeClr val="tx2"/>
              </a:solidFill>
              <a:latin typeface="Segoe UI"/>
              <a:cs typeface="Segoe UI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Scalable Service Quality:</a:t>
            </a:r>
            <a:r>
              <a:rPr lang="en-US" sz="1600" dirty="0">
                <a:solidFill>
                  <a:schemeClr val="tx2"/>
                </a:solidFill>
                <a:latin typeface="Segoe UI"/>
                <a:ea typeface="+mn-lt"/>
                <a:cs typeface="Segoe UI"/>
              </a:rPr>
              <a:t> Consistent, personalized communication at scale strengthens relationships.</a:t>
            </a:r>
            <a:endParaRPr lang="en-US" sz="1600" dirty="0">
              <a:solidFill>
                <a:schemeClr val="tx2"/>
              </a:solidFill>
              <a:latin typeface="Segoe UI"/>
              <a:cs typeface="Segoe UI"/>
            </a:endParaRPr>
          </a:p>
          <a:p>
            <a:endParaRPr lang="en-US" sz="1700" dirty="0">
              <a:solidFill>
                <a:schemeClr val="tx2"/>
              </a:solidFill>
              <a:latin typeface="Segoe UI"/>
              <a:cs typeface="Segoe U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1F213E65-8ABC-5FC5-3F69-1943E2C92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46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I Collections Benefits Slide">
            <a:extLst>
              <a:ext uri="{FF2B5EF4-FFF2-40B4-BE49-F238E27FC236}">
                <a16:creationId xmlns:a16="http://schemas.microsoft.com/office/drawing/2014/main" id="{7845E769-B24D-5A60-E5F1-5D851AB4CAD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68917" y="665238"/>
            <a:ext cx="8237308" cy="5454952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7824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mask">
  <a:themeElements>
    <a:clrScheme name="Custom 2">
      <a:dk1>
        <a:srgbClr val="0C3346"/>
      </a:dk1>
      <a:lt1>
        <a:sysClr val="window" lastClr="FFFFFF"/>
      </a:lt1>
      <a:dk2>
        <a:srgbClr val="0C3346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File_PowerPoint</Template>
  <TotalTime>128</TotalTime>
  <Words>550</Words>
  <Application>Microsoft Office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Bookman Old Style</vt:lpstr>
      <vt:lpstr>Roboto</vt:lpstr>
      <vt:lpstr>Roboto Slab</vt:lpstr>
      <vt:lpstr>Rockwell</vt:lpstr>
      <vt:lpstr>Segoe UI</vt:lpstr>
      <vt:lpstr>Office Theme</vt:lpstr>
      <vt:lpstr>Damask</vt:lpstr>
      <vt:lpstr>AI-Powered Collections Strategy</vt:lpstr>
      <vt:lpstr>How the System Works </vt:lpstr>
      <vt:lpstr> System Component and Workflow </vt:lpstr>
      <vt:lpstr>PowerPoint Presentation</vt:lpstr>
      <vt:lpstr>Monitoring &amp; Auditing AI Collections Ensuring Fairness, Compliance, and Effectiveness Over Time</vt:lpstr>
      <vt:lpstr>Expected Business Impact</vt:lpstr>
      <vt:lpstr>Quantitative Outcomes  </vt:lpstr>
      <vt:lpstr>Qualitative Outcomes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Tarannum Parveen</dc:creator>
  <cp:lastModifiedBy>Tarannum Parveen</cp:lastModifiedBy>
  <cp:revision>164</cp:revision>
  <dcterms:created xsi:type="dcterms:W3CDTF">2026-07-07T13:36:26Z</dcterms:created>
  <dcterms:modified xsi:type="dcterms:W3CDTF">2026-07-13T13:38:20Z</dcterms:modified>
</cp:coreProperties>
</file>